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645920"/>
            <a:ext cx="128016" cy="3108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200" b="1" i="0">
                <a:solidFill>
                  <a:srgbClr val="6B2D5C"/>
                </a:solidFill>
                <a:latin typeface="Times New Roman"/>
              </a:rPr>
              <a:t>EFREI PARIS • MACHINE LEARNING 1 (2026–2027)</a:t>
            </a:r>
          </a:p>
          <a:p>
            <a:pPr>
              <a:spcAft>
                <a:spcPts val="1400"/>
              </a:spcAft>
            </a:pPr>
            <a:r>
              <a:rPr sz="3400" b="1" i="0">
                <a:solidFill>
                  <a:srgbClr val="1B365D"/>
                </a:solidFill>
                <a:latin typeface="Times New Roman"/>
              </a:rPr>
              <a:t>Classification de la Qualité du Vin</a:t>
            </a:r>
          </a:p>
          <a:p>
            <a:pPr>
              <a:spcAft>
                <a:spcPts val="2400"/>
              </a:spcAft>
            </a:pPr>
            <a:r>
              <a:rPr sz="1800" b="0" i="1">
                <a:solidFill>
                  <a:srgbClr val="555555"/>
                </a:solidFill>
                <a:latin typeface="Times New Roman"/>
              </a:rPr>
              <a:t>Approches supervisées sur les paramètres physico-chimiques (Dataset UCI)</a:t>
            </a:r>
          </a:p>
          <a:p>
            <a:r>
              <a:rPr sz="1300" b="0" i="0">
                <a:solidFill>
                  <a:srgbClr val="1A1A1A"/>
                </a:solidFill>
                <a:latin typeface="Times New Roman"/>
              </a:rPr>
              <a:t>Dataset Vinho Verde • 6 497 observations • Pipeline optimisé à 8 variables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B2D5C"/>
                </a:solidFill>
                <a:latin typeface="Times New Roman"/>
              </a:rPr>
              <a:t>1. EXPLORATION &amp; NETTOYAGE DES DONNÉES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Times New Roman"/>
              </a:rPr>
              <a:t>Écarts d'échelles extrêmes et préservation des valeurs réelles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Variable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Moyenne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Min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Max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total_sulfur_dioxide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115.75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6.0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440.0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residual_sugar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65.8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alcohol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10.49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8.0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14.9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chlorides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3931920"/>
          <a:ext cx="49377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246888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Variable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i="0">
                          <a:solidFill>
                            <a:srgbClr val="FFFFFF"/>
                          </a:solidFill>
                          <a:latin typeface="Times New Roman"/>
                        </a:rPr>
                        <a:t>% Outliers (IQR)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residual_sugar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4.56 %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chlorides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4.40 %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1100" b="1" i="0">
                          <a:solidFill>
                            <a:srgbClr val="1A1A1A"/>
                          </a:solidFill>
                          <a:latin typeface="Times New Roman"/>
                        </a:rPr>
                        <a:t>volatile_acidity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i="0">
                          <a:solidFill>
                            <a:srgbClr val="1A1A1A"/>
                          </a:solidFill>
                          <a:latin typeface="Times New Roman"/>
                        </a:rPr>
                        <a:t>5.80 %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943600" y="1645920"/>
            <a:ext cx="548640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0" y="18745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B365D"/>
                </a:solidFill>
                <a:latin typeface="Times New Roman"/>
              </a:rPr>
              <a:t>Analyse des Échelles &amp; Valeurs Aberrantes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Écarts d'échelles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Certaines molécules sont de l'ordre de 100+ en moyenne (sulfites) et d'autres à 0.06 (chlorures). La normalisation est indispensable pour empêcher les fortes valeurs d'écraser les autres.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Valeurs extrêmes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Le sucre résiduel tire fortement la moyenne vers le haut, introduisant un bruit à surveiller.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Valeurs aberrantes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Une part notable de valeurs aberrantes est détectée, mais s'agissant de caractéristiques biologiques réelles, elles sont conservées pour ne pas biaiser le modèle.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B2D5C"/>
                </a:solidFill>
                <a:latin typeface="Times New Roman"/>
              </a:rPr>
              <a:t>2. FORMULATION DE LA CIBLE &amp; DÉSÉQUILIBRE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Times New Roman"/>
              </a:rPr>
              <a:t>Déséquilibre des classes et le piège de l'Accuracy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act_cell29_im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828800"/>
            <a:ext cx="4937760" cy="207385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645920"/>
            <a:ext cx="548640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8745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B365D"/>
                </a:solidFill>
                <a:latin typeface="Times New Roman"/>
              </a:rPr>
              <a:t>Analyse de la Distribution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Constat visuel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Un écart marqué apparaît nettement entre les distributions.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Déséquilibre conséquent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Répartition asymétrique : 5 220 vins ordinaires (80.3%) contre 1 277 bons vins (19.7%).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Le piège de l'Accuracy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Un modèle naïf prédisant 100% de vins ordinaires obtiendrait 80.3% d'exactitude sans identifier aucun bon vin.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Conséquence méthodologique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L'évaluation doit strictement reposer sur le Rappel, la Précision et le F1-score.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B2D5C"/>
                </a:solidFill>
                <a:latin typeface="Times New Roman"/>
              </a:rPr>
              <a:t>3. DÉPENDANCES &amp; CORRÉLATIONS LINÉAIRES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Times New Roman"/>
              </a:rPr>
              <a:t>L'alcool favorise la qualité ; la densité et l'acidité la dégradent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act_cell37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645920"/>
            <a:ext cx="548640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8745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B365D"/>
                </a:solidFill>
                <a:latin typeface="Times New Roman"/>
              </a:rPr>
              <a:t>Interprétation des Corrélations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Rôle de l'alcool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Le degré d'alcool est le premier facteur favorable à la qualité (r = +0.39, corrélation positive maximale).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Facteurs pénalisants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Une densité élevée (r = -0.27), une forte acidité volatile (r = -0.23) et des chlorures élevés réduisent la probabilité d'un bon vin.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Anticorrélation logique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L'alcool et la densité présentent une forte corrélation négative (r = -0.69).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B2D5C"/>
                </a:solidFill>
                <a:latin typeface="Times New Roman"/>
              </a:rPr>
              <a:t>4. DISTRIBUTIONS DES CARACTÉRISTIQUES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Times New Roman"/>
              </a:rPr>
              <a:t>Confirmation des profils physico-chimiques par les Boxplots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act_cell42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41148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645920"/>
            <a:ext cx="548640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8745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B365D"/>
                </a:solidFill>
                <a:latin typeface="Times New Roman"/>
              </a:rPr>
              <a:t>Validation des Distributions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Validation pour l'alcool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Le taux médian d'alcool est nettement supérieur chez les bons vins comparativement aux vins ordinaires.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Validation des pénalités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Inversement, pour les variables corrélées négativement (densité, acidité volatile, chlorures), les médianes sont plus faibles chez les bons vins.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Séparabilité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Le chevauchement partiel des distributions implique qu'une frontière linéaire simple sera insuffisante, justifiant le recours à des modèles non-linéaires.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B2D5C"/>
                </a:solidFill>
                <a:latin typeface="Times New Roman"/>
              </a:rPr>
              <a:t>5. SÉLECTION UNIVARIÉE DES DESCRIPTEURS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Times New Roman"/>
              </a:rPr>
              <a:t>Le test F d'ANOVA confirme la hiérarchie des variables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act_cell53_ano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4937760" cy="263347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645920"/>
            <a:ext cx="548640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8745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B365D"/>
                </a:solidFill>
                <a:latin typeface="Times New Roman"/>
              </a:rPr>
              <a:t>Hiérarchie Statistique des Variables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Confirmation statistique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Le test ANOVA confirme rigoureusement les observations exploratoires : 4 variables dominent très largement le classement.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Prépondérance de l'alcool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L'alcool enregistre le score F le plus élevé (F = 907.4), attestant d'un pouvoir séparateur maximal.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Variables complémentaires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Densité (F = 373.1), Acidité volatile (F = 299.8) et Chlorures (F = 210.5).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Synthèse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Ces résultats valident statistiquement la sélection des variables pour l'entraînement.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B2D5C"/>
                </a:solidFill>
                <a:latin typeface="Times New Roman"/>
              </a:rPr>
              <a:t>5BIS. SÉLECTION MULTIVARIÉE : ACP &amp; INFORMATION MUTUELLE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Times New Roman"/>
              </a:rPr>
              <a:t>Seuil ACP à 90% et Information Mutuelle : sélection des 8 descripteurs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ca_mi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920240"/>
            <a:ext cx="4937760" cy="323508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645920"/>
            <a:ext cx="548640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8745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B365D"/>
                </a:solidFill>
                <a:latin typeface="Times New Roman"/>
              </a:rPr>
              <a:t>Arbitrage &amp; Justification des 8 Variables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Seuil des 90% de l'ACP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Retenir 8 composantes permet d'atteindre 93.8% de variance cumulée sans diluer l'espace.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Limite du linéaire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L'analyse linéaire (Pearson / ANOVA) oubliait des variables majeures ayant de fortes dépendances non-linéaires avec la qualité.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Apport de l'Information Mutuelle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Révèle des signaux non-linéaires majeurs négligés par Pearson (soufre total, acide citrique, sucre résiduel).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Les 8 variables retenues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Alcool, densité, soufre total, chlorures, acide citrique, sucre résiduel, acidité volatile, soufre libre.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4 variables écartées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pH, couleur, sulfates et acidité fixe apportent une information mutuelle quasi-nulle et du bruit.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B2D5C"/>
                </a:solidFill>
                <a:latin typeface="Times New Roman"/>
              </a:rPr>
              <a:t>6. COMPARAISON DES 5 MODÈLES INITIAUX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Times New Roman"/>
              </a:rPr>
              <a:t>Bilan comparatif des 5 algorithmes avant optimisation (Pipeline 8 Variables)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33528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Modèle ML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Précision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Rappel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F1-score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ROC-AUC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Régression Logistique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0.818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0.598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0.238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0.341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0.790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k-NN (k=5)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0.829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0.576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0.504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Times New Roman"/>
                        </a:rPr>
                        <a:t>0.537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Times New Roman"/>
                        </a:rPr>
                        <a:t>0.826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Arbre de Décision (Entropie)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0.825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0.604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0.316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0.415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0.813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Naive Bayes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0.414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0.629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0.499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SVM (RBF)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0.823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0.659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0.211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0.320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0.799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931920"/>
            <a:ext cx="10728655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4160520"/>
            <a:ext cx="1027145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B365D"/>
                </a:solidFill>
                <a:latin typeface="Times New Roman"/>
              </a:rPr>
              <a:t>Analyse Critique des Architectures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Naive Bayes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Présente le rappel le plus fort de base (62.9%), mais il a une précision catastrophique (41.4%). Cela s'explique par l'hypothèse d'indépendance conditionnelle entre les variables alcool, densité et sucre. Or nous avons vu que ce n'était pas le cas.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Régression Logistique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Trop rigide. Avec une frontière de décision linéaire, elle rate la plupart des bons vins (Rappel de 23.8%).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Arbre de Décision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Performance modérée (F1 ~0.415). Une assez bonne précision et accuracy, mais le rappel pèche (31.6%).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B2D5C"/>
                </a:solidFill>
                <a:latin typeface="Times New Roman"/>
              </a:rPr>
              <a:t>6BIS. COMPARAISON DES 5 MODÈLES INITIAUX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Times New Roman"/>
              </a:rPr>
              <a:t>Analyse Critique des Architectures : Courbes ROC et sélection des finalistes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exact_cell90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4937760" cy="348547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943600" y="1645920"/>
            <a:ext cx="5486400" cy="44805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72200" y="187452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B365D"/>
                </a:solidFill>
                <a:latin typeface="Times New Roman"/>
              </a:rPr>
              <a:t>Analyse Critique des Architectures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SVM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Excellente précision (65.9%) et le meilleur score AUC (0.832), mais le pire rappel, on se rapproche du schéma contre lequel on s'était mis en garde au début : un modèle qui prédit majoritairement des vins ordinaires. C'est pour ça que je le classerais 2ème modèle initial.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k-NN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Meilleur modèle initial global avec une bonne polyvalence, en effet un F1-score de 0.537. Tout en ayant la meilleure accuracy (0.829) et un bon ROC-AUC (0.826).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Décision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k-NN et SVM sont retenus pour l'optimisation des hyperparamètres afin de débloquer le rappel sur la classe minoritaire.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 i="0">
                <a:solidFill>
                  <a:srgbClr val="6B2D5C"/>
                </a:solidFill>
                <a:latin typeface="Times New Roman"/>
              </a:rPr>
              <a:t>7. OPTIMISATION DES HYPERPARAMÈTRES &amp; CHOIX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1B365D"/>
                </a:solidFill>
                <a:latin typeface="Times New Roman"/>
              </a:rPr>
              <a:t>Après optimisation : k-NN surclasse le SVM sur chaque métrique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728655" cy="13716"/>
          </a:xfrm>
          <a:prstGeom prst="rect">
            <a:avLst/>
          </a:prstGeom>
          <a:solidFill>
            <a:srgbClr val="CBD5E1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645920"/>
          <a:ext cx="10728655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8109"/>
                <a:gridCol w="1788109"/>
                <a:gridCol w="1788109"/>
                <a:gridCol w="1788109"/>
                <a:gridCol w="1788109"/>
                <a:gridCol w="178811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Modèle Optimisé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Accuracy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Précision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Rappel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F1-score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ROC-AUC</a:t>
                      </a:r>
                    </a:p>
                  </a:txBody>
                  <a:tcPr>
                    <a:solidFill>
                      <a:srgbClr val="1B365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1A1A1A"/>
                          </a:solidFill>
                          <a:latin typeface="Times New Roman"/>
                        </a:rPr>
                        <a:t>k-NN Optimisé (k=7, weights='distance')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Times New Roman"/>
                        </a:rPr>
                        <a:t>0.867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Times New Roman"/>
                        </a:rPr>
                        <a:t>0.683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Times New Roman"/>
                        </a:rPr>
                        <a:t>0.605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Times New Roman"/>
                        </a:rPr>
                        <a:t>0.642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1A1A1A"/>
                          </a:solidFill>
                          <a:latin typeface="Times New Roman"/>
                        </a:rPr>
                        <a:t>0.890</a:t>
                      </a:r>
                    </a:p>
                  </a:txBody>
                  <a:tcPr>
                    <a:solidFill>
                      <a:srgbClr val="EAF2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SVM Optimisé (C=10, gamma='auto')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0.630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0.293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1A1A1A"/>
                          </a:solidFill>
                          <a:latin typeface="Times New Roman"/>
                        </a:rPr>
                        <a:t>0.820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31520" y="3291840"/>
            <a:ext cx="10728655" cy="292608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520440"/>
            <a:ext cx="1027145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1" i="0">
                <a:solidFill>
                  <a:srgbClr val="1B365D"/>
                </a:solidFill>
                <a:latin typeface="Times New Roman"/>
              </a:rPr>
              <a:t>Conclusion &amp; Sélection du Modèle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En conclusion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Après optimisation, le k-NN surclasse nettement le SVM sur l'ensemble des métriques d'évaluation.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Impact de la distance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La pondération par l'inverse de la distance affine la frontière de décision en accordant plus de poids aux voisins immédiats.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Compromis Biais / Variance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k=7 contrôle la variance en lissant le bruit local, tandis que le vote pondéré réduit le biais de classification.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300" b="1" i="0">
                <a:solidFill>
                  <a:srgbClr val="1B365D"/>
                </a:solidFill>
                <a:latin typeface="Times New Roman"/>
              </a:rPr>
              <a:t>• Bilan final : </a:t>
            </a:r>
            <a:r>
              <a:rPr sz="1300" b="0" i="0">
                <a:solidFill>
                  <a:srgbClr val="1A1A1A"/>
                </a:solidFill>
                <a:latin typeface="Times New Roman"/>
              </a:rPr>
              <a:t>972 vins ordinaires bien classés, 155 bons vins détectés pour 72 faux positifs. Pipeline sérialisé avec joblib.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